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Viral Distributors and the portal: everything a seller needs for FBA prep in one place.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Contrast the manual workflow with the portal experience.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six steps; note that steps 4-6 are all tracked live in the portal.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actual order form: product rows, per-product prep, instant invoice on submit.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Rates from the sample quote. Emphasize per-client rate cards and that polybag is charged only on selected units.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four payment states mirror the portal badges the client will actually see.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pipeline is two-way: warehouse publishes shipment info, client returns shipping labels.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roles, one source of truth; the bell keeps everyone current without status-check emails.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the ask: we create their login today, first order this week.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235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486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400" kern="0" dirty="0">
                <a:solidFill>
                  <a:srgbClr val="DCE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I R A L   D I S T R I B U T O R 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1828800"/>
            <a:ext cx="6949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3PL Prep Portal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594360" y="2971800"/>
            <a:ext cx="6309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900" dirty="0">
                <a:solidFill>
                  <a:srgbClr val="DCE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FBA prep, invoicing and fulfillment —</a:t>
            </a:r>
            <a:endParaRPr lang="en-US" sz="1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900" dirty="0">
                <a:solidFill>
                  <a:srgbClr val="DCE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portal, full visibility.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8001000" y="1554480"/>
            <a:ext cx="1371600" cy="1371600"/>
          </a:xfrm>
          <a:prstGeom prst="ellipse">
            <a:avLst/>
          </a:prstGeom>
          <a:solidFill>
            <a:srgbClr val="3D5A99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57616" y="1911096"/>
            <a:ext cx="658368" cy="65836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9829800" y="1554480"/>
            <a:ext cx="1371600" cy="1371600"/>
          </a:xfrm>
          <a:prstGeom prst="ellipse">
            <a:avLst/>
          </a:prstGeom>
          <a:solidFill>
            <a:srgbClr val="3D5A99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86416" y="1911096"/>
            <a:ext cx="658368" cy="658368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8001000" y="3383280"/>
            <a:ext cx="1371600" cy="1371600"/>
          </a:xfrm>
          <a:prstGeom prst="ellipse">
            <a:avLst/>
          </a:prstGeom>
          <a:solidFill>
            <a:srgbClr val="3D5A99"/>
          </a:solidFill>
          <a:ln/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7616" y="3739896"/>
            <a:ext cx="658368" cy="658368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9829800" y="3383280"/>
            <a:ext cx="1371600" cy="1371600"/>
          </a:xfrm>
          <a:prstGeom prst="ellipse">
            <a:avLst/>
          </a:prstGeom>
          <a:solidFill>
            <a:srgbClr val="3D5A99"/>
          </a:solidFill>
          <a:ln/>
        </p:spPr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86416" y="3739896"/>
            <a:ext cx="658368" cy="658368"/>
          </a:xfrm>
          <a:prstGeom prst="rect">
            <a:avLst/>
          </a:prstGeom>
        </p:spPr>
      </p:pic>
      <p:sp>
        <p:nvSpPr>
          <p:cNvPr id="13" name="Shape 7"/>
          <p:cNvSpPr/>
          <p:nvPr/>
        </p:nvSpPr>
        <p:spPr>
          <a:xfrm>
            <a:off x="594360" y="5623560"/>
            <a:ext cx="2423160" cy="475488"/>
          </a:xfrm>
          <a:prstGeom prst="roundRect">
            <a:avLst>
              <a:gd name="adj" fmla="val 50000"/>
            </a:avLst>
          </a:prstGeom>
          <a:solidFill>
            <a:srgbClr val="31497D"/>
          </a:solidFill>
          <a:ln/>
        </p:spPr>
      </p:sp>
      <p:sp>
        <p:nvSpPr>
          <p:cNvPr id="14" name="Text 8"/>
          <p:cNvSpPr/>
          <p:nvPr/>
        </p:nvSpPr>
        <p:spPr>
          <a:xfrm>
            <a:off x="594360" y="5623560"/>
            <a:ext cx="2423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invoices</a:t>
            </a:r>
            <a:endParaRPr lang="en-US" sz="1250" dirty="0"/>
          </a:p>
        </p:txBody>
      </p:sp>
      <p:sp>
        <p:nvSpPr>
          <p:cNvPr id="15" name="Shape 9"/>
          <p:cNvSpPr/>
          <p:nvPr/>
        </p:nvSpPr>
        <p:spPr>
          <a:xfrm>
            <a:off x="3200400" y="5623560"/>
            <a:ext cx="2423160" cy="475488"/>
          </a:xfrm>
          <a:prstGeom prst="roundRect">
            <a:avLst>
              <a:gd name="adj" fmla="val 50000"/>
            </a:avLst>
          </a:prstGeom>
          <a:solidFill>
            <a:srgbClr val="31497D"/>
          </a:solidFill>
          <a:ln/>
        </p:spPr>
      </p:sp>
      <p:sp>
        <p:nvSpPr>
          <p:cNvPr id="16" name="Text 10"/>
          <p:cNvSpPr/>
          <p:nvPr/>
        </p:nvSpPr>
        <p:spPr>
          <a:xfrm>
            <a:off x="3200400" y="5623560"/>
            <a:ext cx="2423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order tracking</a:t>
            </a:r>
            <a:endParaRPr lang="en-US" sz="1250" dirty="0"/>
          </a:p>
        </p:txBody>
      </p:sp>
      <p:sp>
        <p:nvSpPr>
          <p:cNvPr id="17" name="Shape 11"/>
          <p:cNvSpPr/>
          <p:nvPr/>
        </p:nvSpPr>
        <p:spPr>
          <a:xfrm>
            <a:off x="5806440" y="5623560"/>
            <a:ext cx="2423160" cy="475488"/>
          </a:xfrm>
          <a:prstGeom prst="roundRect">
            <a:avLst>
              <a:gd name="adj" fmla="val 50000"/>
            </a:avLst>
          </a:prstGeom>
          <a:solidFill>
            <a:srgbClr val="31497D"/>
          </a:solidFill>
          <a:ln/>
        </p:spPr>
      </p:sp>
      <p:sp>
        <p:nvSpPr>
          <p:cNvPr id="18" name="Text 12"/>
          <p:cNvSpPr/>
          <p:nvPr/>
        </p:nvSpPr>
        <p:spPr>
          <a:xfrm>
            <a:off x="5806440" y="5623560"/>
            <a:ext cx="2423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FNSKU &amp; shipping labels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3D5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 without the back-and-forth</a:t>
            </a:r>
            <a:endParaRPr lang="en-US" sz="33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440680" cy="4892040"/>
          </a:xfrm>
          <a:prstGeom prst="roundRect">
            <a:avLst>
              <a:gd name="adj" fmla="val 2243"/>
            </a:avLst>
          </a:prstGeom>
          <a:solidFill>
            <a:srgbClr val="F3F6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8680" y="160020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old way: email &amp; spreadsheets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868680" y="2194560"/>
            <a:ext cx="566928" cy="566928"/>
          </a:xfrm>
          <a:prstGeom prst="ellipse">
            <a:avLst/>
          </a:prstGeom>
          <a:solidFill>
            <a:srgbClr val="B34A3E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6081" y="2341961"/>
            <a:ext cx="272125" cy="27212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2112264"/>
            <a:ext cx="4160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Quotes wait in an inbox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order starts with an email thread and a delay.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868680" y="3182112"/>
            <a:ext cx="566928" cy="566928"/>
          </a:xfrm>
          <a:prstGeom prst="ellipse">
            <a:avLst/>
          </a:prstGeom>
          <a:solidFill>
            <a:srgbClr val="B34A3E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6081" y="3329513"/>
            <a:ext cx="272125" cy="27212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600200" y="3099816"/>
            <a:ext cx="4160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Hand-built invoices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items and discounts recalculated by hand, every time.</a:t>
            </a:r>
            <a:endParaRPr lang="en-US" sz="1450" dirty="0"/>
          </a:p>
        </p:txBody>
      </p:sp>
      <p:sp>
        <p:nvSpPr>
          <p:cNvPr id="11" name="Shape 7"/>
          <p:cNvSpPr/>
          <p:nvPr/>
        </p:nvSpPr>
        <p:spPr>
          <a:xfrm>
            <a:off x="868680" y="4169664"/>
            <a:ext cx="566928" cy="566928"/>
          </a:xfrm>
          <a:prstGeom prst="ellipse">
            <a:avLst/>
          </a:prstGeom>
          <a:solidFill>
            <a:srgbClr val="B34A3E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081" y="4317065"/>
            <a:ext cx="272125" cy="272125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600200" y="4087368"/>
            <a:ext cx="4160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visibility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it arrived? Is it prepped? Nobody knows without asking.</a:t>
            </a:r>
            <a:endParaRPr lang="en-US" sz="1450" dirty="0"/>
          </a:p>
        </p:txBody>
      </p:sp>
      <p:sp>
        <p:nvSpPr>
          <p:cNvPr id="14" name="Shape 9"/>
          <p:cNvSpPr/>
          <p:nvPr/>
        </p:nvSpPr>
        <p:spPr>
          <a:xfrm>
            <a:off x="868680" y="5157216"/>
            <a:ext cx="566928" cy="566928"/>
          </a:xfrm>
          <a:prstGeom prst="ellipse">
            <a:avLst/>
          </a:prstGeom>
          <a:solidFill>
            <a:srgbClr val="B34A3E"/>
          </a:solidFill>
          <a:ln/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6081" y="5304617"/>
            <a:ext cx="272125" cy="272125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600200" y="5074920"/>
            <a:ext cx="4160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Labels lost in threads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FNSKU and shipping labels buried in attachments.</a:t>
            </a:r>
            <a:endParaRPr lang="en-US" sz="1450" dirty="0"/>
          </a:p>
        </p:txBody>
      </p:sp>
      <p:sp>
        <p:nvSpPr>
          <p:cNvPr id="17" name="Shape 11"/>
          <p:cNvSpPr/>
          <p:nvPr/>
        </p:nvSpPr>
        <p:spPr>
          <a:xfrm>
            <a:off x="6263640" y="1371600"/>
            <a:ext cx="5394960" cy="4892040"/>
          </a:xfrm>
          <a:prstGeom prst="roundRect">
            <a:avLst>
              <a:gd name="adj" fmla="val 2243"/>
            </a:avLst>
          </a:prstGeom>
          <a:solidFill>
            <a:srgbClr val="3D5A99"/>
          </a:solidFill>
          <a:ln/>
        </p:spPr>
      </p:sp>
      <p:sp>
        <p:nvSpPr>
          <p:cNvPr id="18" name="Text 12"/>
          <p:cNvSpPr/>
          <p:nvPr/>
        </p:nvSpPr>
        <p:spPr>
          <a:xfrm>
            <a:off x="6583680" y="160020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the portal</a:t>
            </a:r>
            <a:endParaRPr lang="en-US" sz="1700" dirty="0"/>
          </a:p>
        </p:txBody>
      </p:sp>
      <p:sp>
        <p:nvSpPr>
          <p:cNvPr id="19" name="Shape 13"/>
          <p:cNvSpPr/>
          <p:nvPr/>
        </p:nvSpPr>
        <p:spPr>
          <a:xfrm>
            <a:off x="6583680" y="2194560"/>
            <a:ext cx="566928" cy="566928"/>
          </a:xfrm>
          <a:prstGeom prst="ellipse">
            <a:avLst/>
          </a:prstGeom>
          <a:solidFill>
            <a:srgbClr val="2BAE7E"/>
          </a:solidFill>
          <a:ln/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31081" y="2341961"/>
            <a:ext cx="272125" cy="272125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315200" y="2112264"/>
            <a:ext cx="4160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 in seconds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DCE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from your rates the moment you submit an order.</a:t>
            </a:r>
            <a:endParaRPr lang="en-US" sz="1450" dirty="0"/>
          </a:p>
        </p:txBody>
      </p:sp>
      <p:sp>
        <p:nvSpPr>
          <p:cNvPr id="22" name="Shape 15"/>
          <p:cNvSpPr/>
          <p:nvPr/>
        </p:nvSpPr>
        <p:spPr>
          <a:xfrm>
            <a:off x="6583680" y="3182112"/>
            <a:ext cx="566928" cy="566928"/>
          </a:xfrm>
          <a:prstGeom prst="ellipse">
            <a:avLst/>
          </a:prstGeom>
          <a:solidFill>
            <a:srgbClr val="2BAE7E"/>
          </a:solidFill>
          <a:ln/>
        </p:spPr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31081" y="3329513"/>
            <a:ext cx="272125" cy="272125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7315200" y="3099816"/>
            <a:ext cx="4160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 verified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DCE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dedicated accounts team confirms every payment.</a:t>
            </a:r>
            <a:endParaRPr lang="en-US" sz="1450" dirty="0"/>
          </a:p>
        </p:txBody>
      </p:sp>
      <p:sp>
        <p:nvSpPr>
          <p:cNvPr id="25" name="Shape 17"/>
          <p:cNvSpPr/>
          <p:nvPr/>
        </p:nvSpPr>
        <p:spPr>
          <a:xfrm>
            <a:off x="6583680" y="4169664"/>
            <a:ext cx="566928" cy="566928"/>
          </a:xfrm>
          <a:prstGeom prst="ellipse">
            <a:avLst/>
          </a:prstGeom>
          <a:solidFill>
            <a:srgbClr val="2BAE7E"/>
          </a:solidFill>
          <a:ln/>
        </p:spPr>
      </p:sp>
      <p:pic>
        <p:nvPicPr>
          <p:cNvPr id="2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31081" y="4317065"/>
            <a:ext cx="272125" cy="272125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7315200" y="4087368"/>
            <a:ext cx="4160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status, end to end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DCE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received to prepped to sent to Amazon — always current.</a:t>
            </a:r>
            <a:endParaRPr lang="en-US" sz="1450" dirty="0"/>
          </a:p>
        </p:txBody>
      </p:sp>
      <p:sp>
        <p:nvSpPr>
          <p:cNvPr id="28" name="Shape 19"/>
          <p:cNvSpPr/>
          <p:nvPr/>
        </p:nvSpPr>
        <p:spPr>
          <a:xfrm>
            <a:off x="6583680" y="5157216"/>
            <a:ext cx="566928" cy="566928"/>
          </a:xfrm>
          <a:prstGeom prst="ellipse">
            <a:avLst/>
          </a:prstGeom>
          <a:solidFill>
            <a:srgbClr val="2BAE7E"/>
          </a:solidFill>
          <a:ln/>
        </p:spPr>
      </p:sp>
      <p:pic>
        <p:nvPicPr>
          <p:cNvPr id="2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31081" y="5304617"/>
            <a:ext cx="272125" cy="272125"/>
          </a:xfrm>
          <a:prstGeom prst="rect">
            <a:avLst/>
          </a:prstGeom>
        </p:spPr>
      </p:pic>
      <p:sp>
        <p:nvSpPr>
          <p:cNvPr id="30" name="Text 20"/>
          <p:cNvSpPr/>
          <p:nvPr/>
        </p:nvSpPr>
        <p:spPr>
          <a:xfrm>
            <a:off x="7315200" y="5074920"/>
            <a:ext cx="4160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Labels in one place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DCE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FNSKU and shipping label PDFs exchanged inside the portal.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3D5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 — end to end</a:t>
            </a:r>
            <a:endParaRPr lang="en-US" sz="33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3566160" cy="2240280"/>
          </a:xfrm>
          <a:prstGeom prst="roundRect">
            <a:avLst>
              <a:gd name="adj" fmla="val 4898"/>
            </a:avLst>
          </a:prstGeom>
          <a:solidFill>
            <a:srgbClr val="F3F6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4672" y="1673352"/>
            <a:ext cx="603504" cy="603504"/>
          </a:xfrm>
          <a:prstGeom prst="ellipse">
            <a:avLst/>
          </a:prstGeom>
          <a:solidFill>
            <a:srgbClr val="3D5A99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1583" y="1830263"/>
            <a:ext cx="289682" cy="28968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429000" y="16184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C3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804672" y="2404872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 your order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804672" y="278892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products by ASIN and quantity — choose poly bag or bubble wrap per product.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370832" y="1417320"/>
            <a:ext cx="3566160" cy="2240280"/>
          </a:xfrm>
          <a:prstGeom prst="roundRect">
            <a:avLst>
              <a:gd name="adj" fmla="val 4898"/>
            </a:avLst>
          </a:prstGeom>
          <a:solidFill>
            <a:srgbClr val="F3F6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626864" y="1673352"/>
            <a:ext cx="603504" cy="603504"/>
          </a:xfrm>
          <a:prstGeom prst="ellipse">
            <a:avLst/>
          </a:prstGeom>
          <a:solidFill>
            <a:srgbClr val="3D5A99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3775" y="1830263"/>
            <a:ext cx="289682" cy="28968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251192" y="16184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C3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600" dirty="0"/>
          </a:p>
        </p:txBody>
      </p:sp>
      <p:sp>
        <p:nvSpPr>
          <p:cNvPr id="13" name="Text 9"/>
          <p:cNvSpPr/>
          <p:nvPr/>
        </p:nvSpPr>
        <p:spPr>
          <a:xfrm>
            <a:off x="4626864" y="2404872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 arrives instantly</a:t>
            </a:r>
            <a:endParaRPr lang="en-US" sz="1550" dirty="0"/>
          </a:p>
        </p:txBody>
      </p:sp>
      <p:sp>
        <p:nvSpPr>
          <p:cNvPr id="14" name="Text 10"/>
          <p:cNvSpPr/>
          <p:nvPr/>
        </p:nvSpPr>
        <p:spPr>
          <a:xfrm>
            <a:off x="4626864" y="278892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Itemized PDF from your rate card, emailed and available in the portal.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8193024" y="1417320"/>
            <a:ext cx="3566160" cy="2240280"/>
          </a:xfrm>
          <a:prstGeom prst="roundRect">
            <a:avLst>
              <a:gd name="adj" fmla="val 4898"/>
            </a:avLst>
          </a:prstGeom>
          <a:solidFill>
            <a:srgbClr val="F3F6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8449056" y="1673352"/>
            <a:ext cx="603504" cy="603504"/>
          </a:xfrm>
          <a:prstGeom prst="ellipse">
            <a:avLst/>
          </a:prstGeom>
          <a:solidFill>
            <a:srgbClr val="3D5A99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05967" y="1830263"/>
            <a:ext cx="289682" cy="28968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1073384" y="16184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C3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600" dirty="0"/>
          </a:p>
        </p:txBody>
      </p:sp>
      <p:sp>
        <p:nvSpPr>
          <p:cNvPr id="19" name="Text 14"/>
          <p:cNvSpPr/>
          <p:nvPr/>
        </p:nvSpPr>
        <p:spPr>
          <a:xfrm>
            <a:off x="8449056" y="2404872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verified</a:t>
            </a:r>
            <a:endParaRPr lang="en-US" sz="1550" dirty="0"/>
          </a:p>
        </p:txBody>
      </p:sp>
      <p:sp>
        <p:nvSpPr>
          <p:cNvPr id="20" name="Text 15"/>
          <p:cNvSpPr/>
          <p:nvPr/>
        </p:nvSpPr>
        <p:spPr>
          <a:xfrm>
            <a:off x="8449056" y="278892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payment sent; our accounts team verifies and unlocks shipping.</a:t>
            </a:r>
            <a:endParaRPr lang="en-US" sz="1150" dirty="0"/>
          </a:p>
        </p:txBody>
      </p:sp>
      <p:sp>
        <p:nvSpPr>
          <p:cNvPr id="21" name="Shape 16"/>
          <p:cNvSpPr/>
          <p:nvPr/>
        </p:nvSpPr>
        <p:spPr>
          <a:xfrm>
            <a:off x="548640" y="3904488"/>
            <a:ext cx="3566160" cy="2240280"/>
          </a:xfrm>
          <a:prstGeom prst="roundRect">
            <a:avLst>
              <a:gd name="adj" fmla="val 4898"/>
            </a:avLst>
          </a:prstGeom>
          <a:solidFill>
            <a:srgbClr val="F3F6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804672" y="4160520"/>
            <a:ext cx="603504" cy="603504"/>
          </a:xfrm>
          <a:prstGeom prst="ellipse">
            <a:avLst/>
          </a:prstGeom>
          <a:solidFill>
            <a:srgbClr val="3D5A99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1583" y="4317431"/>
            <a:ext cx="289682" cy="289682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3429000" y="410565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C3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600" dirty="0"/>
          </a:p>
        </p:txBody>
      </p:sp>
      <p:sp>
        <p:nvSpPr>
          <p:cNvPr id="25" name="Text 19"/>
          <p:cNvSpPr/>
          <p:nvPr/>
        </p:nvSpPr>
        <p:spPr>
          <a:xfrm>
            <a:off x="804672" y="489204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to our warehouse</a:t>
            </a:r>
            <a:endParaRPr lang="en-US" sz="1550" dirty="0"/>
          </a:p>
        </p:txBody>
      </p:sp>
      <p:sp>
        <p:nvSpPr>
          <p:cNvPr id="26" name="Text 20"/>
          <p:cNvSpPr/>
          <p:nvPr/>
        </p:nvSpPr>
        <p:spPr>
          <a:xfrm>
            <a:off x="804672" y="5276088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carrier and tracking, upload FNSKU label PDFs per ASIN.</a:t>
            </a:r>
            <a:endParaRPr lang="en-US" sz="1150" dirty="0"/>
          </a:p>
        </p:txBody>
      </p:sp>
      <p:sp>
        <p:nvSpPr>
          <p:cNvPr id="27" name="Shape 21"/>
          <p:cNvSpPr/>
          <p:nvPr/>
        </p:nvSpPr>
        <p:spPr>
          <a:xfrm>
            <a:off x="4370832" y="3904488"/>
            <a:ext cx="3566160" cy="2240280"/>
          </a:xfrm>
          <a:prstGeom prst="roundRect">
            <a:avLst>
              <a:gd name="adj" fmla="val 4898"/>
            </a:avLst>
          </a:prstGeom>
          <a:solidFill>
            <a:srgbClr val="F3F6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Shape 22"/>
          <p:cNvSpPr/>
          <p:nvPr/>
        </p:nvSpPr>
        <p:spPr>
          <a:xfrm>
            <a:off x="4626864" y="4160520"/>
            <a:ext cx="603504" cy="603504"/>
          </a:xfrm>
          <a:prstGeom prst="ellipse">
            <a:avLst/>
          </a:prstGeom>
          <a:solidFill>
            <a:srgbClr val="3D5A99"/>
          </a:solidFill>
          <a:ln/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83775" y="4317431"/>
            <a:ext cx="289682" cy="289682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7251192" y="410565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C3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600" dirty="0"/>
          </a:p>
        </p:txBody>
      </p:sp>
      <p:sp>
        <p:nvSpPr>
          <p:cNvPr id="31" name="Text 24"/>
          <p:cNvSpPr/>
          <p:nvPr/>
        </p:nvSpPr>
        <p:spPr>
          <a:xfrm>
            <a:off x="4626864" y="489204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prep your units</a:t>
            </a:r>
            <a:endParaRPr lang="en-US" sz="1550" dirty="0"/>
          </a:p>
        </p:txBody>
      </p:sp>
      <p:sp>
        <p:nvSpPr>
          <p:cNvPr id="32" name="Text 25"/>
          <p:cNvSpPr/>
          <p:nvPr/>
        </p:nvSpPr>
        <p:spPr>
          <a:xfrm>
            <a:off x="4626864" y="5276088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Receive, inspect, label and pack — status visible at every stage.</a:t>
            </a:r>
            <a:endParaRPr lang="en-US" sz="1150" dirty="0"/>
          </a:p>
        </p:txBody>
      </p:sp>
      <p:sp>
        <p:nvSpPr>
          <p:cNvPr id="33" name="Shape 26"/>
          <p:cNvSpPr/>
          <p:nvPr/>
        </p:nvSpPr>
        <p:spPr>
          <a:xfrm>
            <a:off x="8193024" y="3904488"/>
            <a:ext cx="3566160" cy="2240280"/>
          </a:xfrm>
          <a:prstGeom prst="roundRect">
            <a:avLst>
              <a:gd name="adj" fmla="val 4898"/>
            </a:avLst>
          </a:prstGeom>
          <a:solidFill>
            <a:srgbClr val="3D5A99"/>
          </a:solidFill>
          <a:ln/>
        </p:spPr>
      </p:sp>
      <p:sp>
        <p:nvSpPr>
          <p:cNvPr id="34" name="Shape 27"/>
          <p:cNvSpPr/>
          <p:nvPr/>
        </p:nvSpPr>
        <p:spPr>
          <a:xfrm>
            <a:off x="8449056" y="4160520"/>
            <a:ext cx="603504" cy="603504"/>
          </a:xfrm>
          <a:prstGeom prst="ellipse">
            <a:avLst/>
          </a:prstGeom>
          <a:solidFill>
            <a:srgbClr val="E8862D"/>
          </a:solidFill>
          <a:ln/>
        </p:spPr>
      </p:sp>
      <p:pic>
        <p:nvPicPr>
          <p:cNvPr id="3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05967" y="4317431"/>
            <a:ext cx="289682" cy="289682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11073384" y="410565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9FB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600" dirty="0"/>
          </a:p>
        </p:txBody>
      </p:sp>
      <p:sp>
        <p:nvSpPr>
          <p:cNvPr id="37" name="Text 29"/>
          <p:cNvSpPr/>
          <p:nvPr/>
        </p:nvSpPr>
        <p:spPr>
          <a:xfrm>
            <a:off x="8449056" y="489204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 to Amazon</a:t>
            </a:r>
            <a:endParaRPr lang="en-US" sz="1550" dirty="0"/>
          </a:p>
        </p:txBody>
      </p:sp>
      <p:sp>
        <p:nvSpPr>
          <p:cNvPr id="38" name="Text 30"/>
          <p:cNvSpPr/>
          <p:nvPr/>
        </p:nvSpPr>
        <p:spPr>
          <a:xfrm>
            <a:off x="8449056" y="5276088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upload shipping labels; we hand your shipment to Amazon.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3D5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Placing an order takes two minutes</a:t>
            </a:r>
            <a:endParaRPr lang="en-US" sz="3300" dirty="0"/>
          </a:p>
        </p:txBody>
      </p:sp>
      <p:sp>
        <p:nvSpPr>
          <p:cNvPr id="3" name="Shape 1"/>
          <p:cNvSpPr/>
          <p:nvPr/>
        </p:nvSpPr>
        <p:spPr>
          <a:xfrm>
            <a:off x="548640" y="1600200"/>
            <a:ext cx="640080" cy="640080"/>
          </a:xfrm>
          <a:prstGeom prst="ellipse">
            <a:avLst/>
          </a:prstGeom>
          <a:solidFill>
            <a:srgbClr val="3D5A99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5061" y="1766621"/>
            <a:ext cx="307238" cy="30723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71600" y="1527048"/>
            <a:ext cx="4480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products per order</a:t>
            </a:r>
            <a:endParaRPr lang="en-US" sz="16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ASIN + quantity rows — add as many products as you need with one click.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548640" y="2770632"/>
            <a:ext cx="640080" cy="640080"/>
          </a:xfrm>
          <a:prstGeom prst="ellipse">
            <a:avLst/>
          </a:prstGeom>
          <a:solidFill>
            <a:srgbClr val="3D5A99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061" y="2937053"/>
            <a:ext cx="307238" cy="30723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371600" y="2697480"/>
            <a:ext cx="4480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 options per product</a:t>
            </a:r>
            <a:endParaRPr lang="en-US" sz="16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 bag or bubble wrap only where you want it, at a single rate.</a:t>
            </a: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548640" y="3941064"/>
            <a:ext cx="640080" cy="640080"/>
          </a:xfrm>
          <a:prstGeom prst="ellipse">
            <a:avLst/>
          </a:prstGeom>
          <a:solidFill>
            <a:srgbClr val="3D5A99"/>
          </a:solidFill>
          <a:ln/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061" y="4107485"/>
            <a:ext cx="307238" cy="30723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371600" y="3867912"/>
            <a:ext cx="4480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details, remembered</a:t>
            </a:r>
            <a:endParaRPr lang="en-US" sz="16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Business, brand and store name pre-filled from your account.</a:t>
            </a:r>
            <a:endParaRPr lang="en-US" sz="1600" dirty="0"/>
          </a:p>
        </p:txBody>
      </p:sp>
      <p:sp>
        <p:nvSpPr>
          <p:cNvPr id="12" name="Shape 7"/>
          <p:cNvSpPr/>
          <p:nvPr/>
        </p:nvSpPr>
        <p:spPr>
          <a:xfrm>
            <a:off x="548640" y="5111496"/>
            <a:ext cx="640080" cy="640080"/>
          </a:xfrm>
          <a:prstGeom prst="ellipse">
            <a:avLst/>
          </a:prstGeom>
          <a:solidFill>
            <a:srgbClr val="3D5A99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5061" y="5277917"/>
            <a:ext cx="307238" cy="307238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371600" y="5038344"/>
            <a:ext cx="4480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Cartons auto-calculated</a:t>
            </a:r>
            <a:endParaRPr lang="en-US" sz="16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carton per 50 units, priced upfront — no surprises later.</a:t>
            </a:r>
            <a:endParaRPr lang="en-US" sz="1600" dirty="0"/>
          </a:p>
        </p:txBody>
      </p:sp>
      <p:sp>
        <p:nvSpPr>
          <p:cNvPr id="15" name="Shape 9"/>
          <p:cNvSpPr/>
          <p:nvPr/>
        </p:nvSpPr>
        <p:spPr>
          <a:xfrm>
            <a:off x="6400800" y="1417320"/>
            <a:ext cx="5212080" cy="4846320"/>
          </a:xfrm>
          <a:prstGeom prst="roundRect">
            <a:avLst>
              <a:gd name="adj" fmla="val 2642"/>
            </a:avLst>
          </a:prstGeom>
          <a:solidFill>
            <a:srgbClr val="FFFFFF"/>
          </a:solidFill>
          <a:ln w="19050">
            <a:solidFill>
              <a:srgbClr val="C9D6EA"/>
            </a:solidFill>
            <a:prstDash val="solid"/>
          </a:ln>
          <a:effectLst>
            <a:outerShdw sx="100000" sy="100000" kx="0" ky="0" algn="bl" rotWithShape="0" blurRad="101600" dist="38100" dir="5400000">
              <a:srgbClr val="9AA7BC">
                <a:alpha val="35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720840" y="16916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D5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Prep Order</a:t>
            </a:r>
            <a:endParaRPr lang="en-US" sz="1600" dirty="0"/>
          </a:p>
        </p:txBody>
      </p:sp>
      <p:sp>
        <p:nvSpPr>
          <p:cNvPr id="17" name="Text 11"/>
          <p:cNvSpPr/>
          <p:nvPr/>
        </p:nvSpPr>
        <p:spPr>
          <a:xfrm>
            <a:off x="6720840" y="208483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Brand: Mathon Essentials   ·   Store: MathonStore</a:t>
            </a:r>
            <a:endParaRPr lang="en-US" sz="1100" dirty="0"/>
          </a:p>
        </p:txBody>
      </p:sp>
      <p:sp>
        <p:nvSpPr>
          <p:cNvPr id="18" name="Shape 12"/>
          <p:cNvSpPr/>
          <p:nvPr/>
        </p:nvSpPr>
        <p:spPr>
          <a:xfrm>
            <a:off x="6720840" y="2514600"/>
            <a:ext cx="4572000" cy="566928"/>
          </a:xfrm>
          <a:prstGeom prst="roundRect">
            <a:avLst>
              <a:gd name="adj" fmla="val 16129"/>
            </a:avLst>
          </a:prstGeom>
          <a:solidFill>
            <a:srgbClr val="F3F6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3"/>
          <p:cNvSpPr/>
          <p:nvPr/>
        </p:nvSpPr>
        <p:spPr>
          <a:xfrm>
            <a:off x="6903720" y="2514600"/>
            <a:ext cx="4297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B0ABC12345   </a:t>
            </a:r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units   </a:t>
            </a:r>
            <a:pPr indent="0" marL="0">
              <a:buNone/>
            </a:pPr>
            <a:r>
              <a:rPr lang="en-US" sz="1250" b="1" dirty="0">
                <a:solidFill>
                  <a:srgbClr val="E886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 bag</a:t>
            </a:r>
            <a:endParaRPr lang="en-US" sz="1250" dirty="0"/>
          </a:p>
        </p:txBody>
      </p:sp>
      <p:sp>
        <p:nvSpPr>
          <p:cNvPr id="20" name="Shape 14"/>
          <p:cNvSpPr/>
          <p:nvPr/>
        </p:nvSpPr>
        <p:spPr>
          <a:xfrm>
            <a:off x="6720840" y="3227832"/>
            <a:ext cx="4572000" cy="566928"/>
          </a:xfrm>
          <a:prstGeom prst="roundRect">
            <a:avLst>
              <a:gd name="adj" fmla="val 16129"/>
            </a:avLst>
          </a:prstGeom>
          <a:solidFill>
            <a:srgbClr val="F3F6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6903720" y="3227832"/>
            <a:ext cx="4297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B0DEF67890   </a:t>
            </a:r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 units   </a:t>
            </a:r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50" dirty="0"/>
          </a:p>
        </p:txBody>
      </p:sp>
      <p:sp>
        <p:nvSpPr>
          <p:cNvPr id="22" name="Shape 16"/>
          <p:cNvSpPr/>
          <p:nvPr/>
        </p:nvSpPr>
        <p:spPr>
          <a:xfrm>
            <a:off x="6720840" y="3941064"/>
            <a:ext cx="4572000" cy="566928"/>
          </a:xfrm>
          <a:prstGeom prst="roundRect">
            <a:avLst>
              <a:gd name="adj" fmla="val 16129"/>
            </a:avLst>
          </a:prstGeom>
          <a:solidFill>
            <a:srgbClr val="F3F6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6903720" y="3941064"/>
            <a:ext cx="4297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B0GHI24680   </a:t>
            </a:r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units   </a:t>
            </a:r>
            <a:pPr indent="0" marL="0">
              <a:buNone/>
            </a:pPr>
            <a:r>
              <a:rPr lang="en-US" sz="1250" b="1" dirty="0">
                <a:solidFill>
                  <a:srgbClr val="E886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Bubble wrap</a:t>
            </a:r>
            <a:endParaRPr lang="en-US" sz="1250" dirty="0"/>
          </a:p>
        </p:txBody>
      </p:sp>
      <p:sp>
        <p:nvSpPr>
          <p:cNvPr id="24" name="Shape 18"/>
          <p:cNvSpPr/>
          <p:nvPr/>
        </p:nvSpPr>
        <p:spPr>
          <a:xfrm>
            <a:off x="6720840" y="4773168"/>
            <a:ext cx="1600200" cy="457200"/>
          </a:xfrm>
          <a:prstGeom prst="roundRect">
            <a:avLst>
              <a:gd name="adj" fmla="val 50000"/>
            </a:avLst>
          </a:prstGeom>
          <a:solidFill>
            <a:srgbClr val="DCE6F1"/>
          </a:solidFill>
          <a:ln/>
        </p:spPr>
      </p:sp>
      <p:sp>
        <p:nvSpPr>
          <p:cNvPr id="25" name="Text 19"/>
          <p:cNvSpPr/>
          <p:nvPr/>
        </p:nvSpPr>
        <p:spPr>
          <a:xfrm>
            <a:off x="6720840" y="4773168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D5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Add product</a:t>
            </a:r>
            <a:endParaRPr lang="en-US" sz="1150" dirty="0"/>
          </a:p>
        </p:txBody>
      </p:sp>
      <p:sp>
        <p:nvSpPr>
          <p:cNvPr id="26" name="Shape 20"/>
          <p:cNvSpPr/>
          <p:nvPr/>
        </p:nvSpPr>
        <p:spPr>
          <a:xfrm>
            <a:off x="6720840" y="5440680"/>
            <a:ext cx="3108960" cy="566928"/>
          </a:xfrm>
          <a:prstGeom prst="roundRect">
            <a:avLst>
              <a:gd name="adj" fmla="val 19355"/>
            </a:avLst>
          </a:prstGeom>
          <a:solidFill>
            <a:srgbClr val="E8862D"/>
          </a:solidFill>
          <a:ln/>
        </p:spPr>
      </p:sp>
      <p:sp>
        <p:nvSpPr>
          <p:cNvPr id="27" name="Text 21"/>
          <p:cNvSpPr/>
          <p:nvPr/>
        </p:nvSpPr>
        <p:spPr>
          <a:xfrm>
            <a:off x="6720840" y="5440680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&amp; generate invoice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3D5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 pricing, instant invoices</a:t>
            </a:r>
            <a:endParaRPr lang="en-US" sz="33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6035040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2103120"/>
                <a:gridCol w="91440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Service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5A9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Billed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5A9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Rate*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5A9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Inbound receiving &amp; inspection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 unit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$0.20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FNSKU labeling &amp; FBA prep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 unit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$0.60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Poly bag / bubble wrap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 unit, only when selected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$0.65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Cartonization &amp; outbound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 carton (50 units)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$5.00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548640" y="4343400"/>
            <a:ext cx="5852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*Sample rates. Your rate card is set per client — including volume discounts — and every invoice is itemized against it.</a:t>
            </a:r>
            <a:endParaRPr lang="en-US" sz="1150" dirty="0"/>
          </a:p>
        </p:txBody>
      </p:sp>
      <p:sp>
        <p:nvSpPr>
          <p:cNvPr id="5" name="Shape 2"/>
          <p:cNvSpPr/>
          <p:nvPr/>
        </p:nvSpPr>
        <p:spPr>
          <a:xfrm>
            <a:off x="548640" y="5120640"/>
            <a:ext cx="402336" cy="402336"/>
          </a:xfrm>
          <a:prstGeom prst="ellipse">
            <a:avLst/>
          </a:prstGeom>
          <a:solidFill>
            <a:srgbClr val="2BAE7E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3247" y="5225247"/>
            <a:ext cx="193121" cy="19312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097280" y="5120640"/>
            <a:ext cx="5394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Rates locked per order — later changes never touch old invoices</a:t>
            </a:r>
            <a:endParaRPr lang="en-US" sz="1250" dirty="0"/>
          </a:p>
        </p:txBody>
      </p:sp>
      <p:sp>
        <p:nvSpPr>
          <p:cNvPr id="8" name="Shape 4"/>
          <p:cNvSpPr/>
          <p:nvPr/>
        </p:nvSpPr>
        <p:spPr>
          <a:xfrm>
            <a:off x="548640" y="5650992"/>
            <a:ext cx="402336" cy="402336"/>
          </a:xfrm>
          <a:prstGeom prst="ellipse">
            <a:avLst/>
          </a:prstGeom>
          <a:solidFill>
            <a:srgbClr val="2BAE7E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247" y="5755599"/>
            <a:ext cx="193121" cy="193121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097280" y="5650992"/>
            <a:ext cx="5394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 PDF emailed the moment the order is placed</a:t>
            </a:r>
            <a:endParaRPr lang="en-US" sz="1250" dirty="0"/>
          </a:p>
        </p:txBody>
      </p:sp>
      <p:sp>
        <p:nvSpPr>
          <p:cNvPr id="11" name="Shape 6"/>
          <p:cNvSpPr/>
          <p:nvPr/>
        </p:nvSpPr>
        <p:spPr>
          <a:xfrm>
            <a:off x="548640" y="6181344"/>
            <a:ext cx="402336" cy="402336"/>
          </a:xfrm>
          <a:prstGeom prst="ellipse">
            <a:avLst/>
          </a:prstGeom>
          <a:solidFill>
            <a:srgbClr val="2BAE7E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247" y="6285951"/>
            <a:ext cx="193121" cy="193121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097280" y="6181344"/>
            <a:ext cx="5394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prep billed only on the units that use it</a:t>
            </a:r>
            <a:endParaRPr lang="en-US" sz="1250" dirty="0"/>
          </a:p>
        </p:txBody>
      </p:sp>
      <p:sp>
        <p:nvSpPr>
          <p:cNvPr id="14" name="Shape 8"/>
          <p:cNvSpPr/>
          <p:nvPr/>
        </p:nvSpPr>
        <p:spPr>
          <a:xfrm>
            <a:off x="7040880" y="1554480"/>
            <a:ext cx="4572000" cy="4709160"/>
          </a:xfrm>
          <a:prstGeom prst="roundRect">
            <a:avLst>
              <a:gd name="adj" fmla="val 2800"/>
            </a:avLst>
          </a:prstGeom>
          <a:solidFill>
            <a:srgbClr val="3D5A99"/>
          </a:solidFill>
          <a:ln/>
        </p:spPr>
      </p:sp>
      <p:sp>
        <p:nvSpPr>
          <p:cNvPr id="15" name="Text 9"/>
          <p:cNvSpPr/>
          <p:nvPr/>
        </p:nvSpPr>
        <p:spPr>
          <a:xfrm>
            <a:off x="7360920" y="18745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E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example — 2,244 units</a:t>
            </a:r>
            <a:endParaRPr lang="en-US" sz="1400" dirty="0"/>
          </a:p>
        </p:txBody>
      </p:sp>
      <p:sp>
        <p:nvSpPr>
          <p:cNvPr id="16" name="Text 10"/>
          <p:cNvSpPr/>
          <p:nvPr/>
        </p:nvSpPr>
        <p:spPr>
          <a:xfrm>
            <a:off x="7360920" y="2331720"/>
            <a:ext cx="3931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$2,304</a:t>
            </a:r>
            <a:endParaRPr lang="en-US" sz="6000" dirty="0"/>
          </a:p>
        </p:txBody>
      </p:sp>
      <p:sp>
        <p:nvSpPr>
          <p:cNvPr id="17" name="Text 11"/>
          <p:cNvSpPr/>
          <p:nvPr/>
        </p:nvSpPr>
        <p:spPr>
          <a:xfrm>
            <a:off x="7360920" y="342900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DCE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invoiced in seconds, 10% volume discount applied</a:t>
            </a:r>
            <a:endParaRPr lang="en-US" sz="1250" dirty="0"/>
          </a:p>
        </p:txBody>
      </p:sp>
      <p:sp>
        <p:nvSpPr>
          <p:cNvPr id="18" name="Text 12"/>
          <p:cNvSpPr/>
          <p:nvPr/>
        </p:nvSpPr>
        <p:spPr>
          <a:xfrm>
            <a:off x="7360920" y="41148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CE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Receiving &amp; inspection</a:t>
            </a:r>
            <a:endParaRPr lang="en-US" sz="1200" dirty="0"/>
          </a:p>
        </p:txBody>
      </p:sp>
      <p:sp>
        <p:nvSpPr>
          <p:cNvPr id="19" name="Text 13"/>
          <p:cNvSpPr/>
          <p:nvPr/>
        </p:nvSpPr>
        <p:spPr>
          <a:xfrm>
            <a:off x="10058400" y="411480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$448.80</a:t>
            </a:r>
            <a:endParaRPr lang="en-US" sz="1200" dirty="0"/>
          </a:p>
        </p:txBody>
      </p:sp>
      <p:sp>
        <p:nvSpPr>
          <p:cNvPr id="20" name="Text 14"/>
          <p:cNvSpPr/>
          <p:nvPr/>
        </p:nvSpPr>
        <p:spPr>
          <a:xfrm>
            <a:off x="7360920" y="459028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CE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FNSKU labeling</a:t>
            </a:r>
            <a:endParaRPr lang="en-US" sz="1200" dirty="0"/>
          </a:p>
        </p:txBody>
      </p:sp>
      <p:sp>
        <p:nvSpPr>
          <p:cNvPr id="21" name="Text 15"/>
          <p:cNvSpPr/>
          <p:nvPr/>
        </p:nvSpPr>
        <p:spPr>
          <a:xfrm>
            <a:off x="10058400" y="4590288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$1,346.40</a:t>
            </a:r>
            <a:endParaRPr lang="en-US" sz="1200" dirty="0"/>
          </a:p>
        </p:txBody>
      </p:sp>
      <p:sp>
        <p:nvSpPr>
          <p:cNvPr id="22" name="Text 16"/>
          <p:cNvSpPr/>
          <p:nvPr/>
        </p:nvSpPr>
        <p:spPr>
          <a:xfrm>
            <a:off x="7360920" y="5065776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CE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 bag (984 units only)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10058400" y="5065776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$639.60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7360920" y="5541264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CE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Cartonization &amp; outbound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10058400" y="5541264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$100.00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3D5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 verified — never assumed</a:t>
            </a:r>
            <a:endParaRPr lang="en-US" sz="3300" dirty="0"/>
          </a:p>
        </p:txBody>
      </p:sp>
      <p:sp>
        <p:nvSpPr>
          <p:cNvPr id="3" name="Shape 1"/>
          <p:cNvSpPr/>
          <p:nvPr/>
        </p:nvSpPr>
        <p:spPr>
          <a:xfrm>
            <a:off x="548640" y="1645920"/>
            <a:ext cx="2606040" cy="3566160"/>
          </a:xfrm>
          <a:prstGeom prst="roundRect">
            <a:avLst>
              <a:gd name="adj" fmla="val 4211"/>
            </a:avLst>
          </a:prstGeom>
          <a:solidFill>
            <a:srgbClr val="F3F6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440180" y="1965960"/>
            <a:ext cx="822960" cy="822960"/>
          </a:xfrm>
          <a:prstGeom prst="ellipse">
            <a:avLst/>
          </a:prstGeom>
          <a:solidFill>
            <a:srgbClr val="3D5A99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54150" y="2179930"/>
            <a:ext cx="395021" cy="39502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85800" y="29718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 issued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749808" y="3383280"/>
            <a:ext cx="220370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confirmed and the itemized invoice lands in your inbox.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1165860" y="4526280"/>
            <a:ext cx="1371600" cy="384048"/>
          </a:xfrm>
          <a:prstGeom prst="roundRect">
            <a:avLst>
              <a:gd name="adj" fmla="val 50000"/>
            </a:avLst>
          </a:prstGeom>
          <a:solidFill>
            <a:srgbClr val="FEE2E2"/>
          </a:solidFill>
          <a:ln/>
        </p:spPr>
      </p:sp>
      <p:sp>
        <p:nvSpPr>
          <p:cNvPr id="9" name="Text 6"/>
          <p:cNvSpPr/>
          <p:nvPr/>
        </p:nvSpPr>
        <p:spPr>
          <a:xfrm>
            <a:off x="1165860" y="452628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UNPAID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 rot="5400000">
            <a:off x="3218688" y="3246120"/>
            <a:ext cx="256032" cy="310896"/>
          </a:xfrm>
          <a:prstGeom prst="triangle">
            <a:avLst/>
          </a:prstGeom>
          <a:solidFill>
            <a:srgbClr val="C3D0E8"/>
          </a:solidFill>
          <a:ln/>
        </p:spPr>
      </p:sp>
      <p:sp>
        <p:nvSpPr>
          <p:cNvPr id="11" name="Shape 8"/>
          <p:cNvSpPr/>
          <p:nvPr/>
        </p:nvSpPr>
        <p:spPr>
          <a:xfrm>
            <a:off x="3511296" y="1645920"/>
            <a:ext cx="2606040" cy="3566160"/>
          </a:xfrm>
          <a:prstGeom prst="roundRect">
            <a:avLst>
              <a:gd name="adj" fmla="val 4211"/>
            </a:avLst>
          </a:prstGeom>
          <a:solidFill>
            <a:srgbClr val="F3F6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402836" y="1965960"/>
            <a:ext cx="822960" cy="822960"/>
          </a:xfrm>
          <a:prstGeom prst="ellipse">
            <a:avLst/>
          </a:prstGeom>
          <a:solidFill>
            <a:srgbClr val="3D5A99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6806" y="2179930"/>
            <a:ext cx="395021" cy="395021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648456" y="29718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sent</a:t>
            </a:r>
            <a:endParaRPr lang="en-US" sz="1550" dirty="0"/>
          </a:p>
        </p:txBody>
      </p:sp>
      <p:sp>
        <p:nvSpPr>
          <p:cNvPr id="15" name="Text 11"/>
          <p:cNvSpPr/>
          <p:nvPr/>
        </p:nvSpPr>
        <p:spPr>
          <a:xfrm>
            <a:off x="3712464" y="3383280"/>
            <a:ext cx="220370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click in your portal tells us the transfer is on its way.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4128516" y="4526280"/>
            <a:ext cx="1371600" cy="384048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/>
        </p:spPr>
      </p:sp>
      <p:sp>
        <p:nvSpPr>
          <p:cNvPr id="17" name="Text 13"/>
          <p:cNvSpPr/>
          <p:nvPr/>
        </p:nvSpPr>
        <p:spPr>
          <a:xfrm>
            <a:off x="4128516" y="452628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 rot="5400000">
            <a:off x="6181344" y="3246120"/>
            <a:ext cx="256032" cy="310896"/>
          </a:xfrm>
          <a:prstGeom prst="triangle">
            <a:avLst/>
          </a:prstGeom>
          <a:solidFill>
            <a:srgbClr val="C3D0E8"/>
          </a:solidFill>
          <a:ln/>
        </p:spPr>
      </p:sp>
      <p:sp>
        <p:nvSpPr>
          <p:cNvPr id="19" name="Shape 15"/>
          <p:cNvSpPr/>
          <p:nvPr/>
        </p:nvSpPr>
        <p:spPr>
          <a:xfrm>
            <a:off x="6473952" y="1645920"/>
            <a:ext cx="2606040" cy="3566160"/>
          </a:xfrm>
          <a:prstGeom prst="roundRect">
            <a:avLst>
              <a:gd name="adj" fmla="val 4211"/>
            </a:avLst>
          </a:prstGeom>
          <a:solidFill>
            <a:srgbClr val="F3F6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7365492" y="1965960"/>
            <a:ext cx="822960" cy="822960"/>
          </a:xfrm>
          <a:prstGeom prst="ellipse">
            <a:avLst/>
          </a:prstGeom>
          <a:solidFill>
            <a:srgbClr val="3D5A99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79462" y="2179930"/>
            <a:ext cx="395021" cy="395021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611112" y="29718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</a:t>
            </a:r>
            <a:endParaRPr lang="en-US" sz="1550" dirty="0"/>
          </a:p>
        </p:txBody>
      </p:sp>
      <p:sp>
        <p:nvSpPr>
          <p:cNvPr id="23" name="Text 18"/>
          <p:cNvSpPr/>
          <p:nvPr/>
        </p:nvSpPr>
        <p:spPr>
          <a:xfrm>
            <a:off x="6675120" y="3383280"/>
            <a:ext cx="220370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accounts team checks the books and confirms receipt.</a:t>
            </a:r>
            <a:endParaRPr lang="en-US" sz="1150" dirty="0"/>
          </a:p>
        </p:txBody>
      </p:sp>
      <p:sp>
        <p:nvSpPr>
          <p:cNvPr id="24" name="Shape 19"/>
          <p:cNvSpPr/>
          <p:nvPr/>
        </p:nvSpPr>
        <p:spPr>
          <a:xfrm>
            <a:off x="7091172" y="4526280"/>
            <a:ext cx="1371600" cy="384048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/>
        </p:spPr>
      </p:sp>
      <p:sp>
        <p:nvSpPr>
          <p:cNvPr id="25" name="Text 20"/>
          <p:cNvSpPr/>
          <p:nvPr/>
        </p:nvSpPr>
        <p:spPr>
          <a:xfrm>
            <a:off x="7091172" y="452628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REVIEW</a:t>
            </a:r>
            <a:endParaRPr lang="en-US" sz="1050" dirty="0"/>
          </a:p>
        </p:txBody>
      </p:sp>
      <p:sp>
        <p:nvSpPr>
          <p:cNvPr id="26" name="Shape 21"/>
          <p:cNvSpPr/>
          <p:nvPr/>
        </p:nvSpPr>
        <p:spPr>
          <a:xfrm rot="5400000">
            <a:off x="9144000" y="3246120"/>
            <a:ext cx="256032" cy="310896"/>
          </a:xfrm>
          <a:prstGeom prst="triangle">
            <a:avLst/>
          </a:prstGeom>
          <a:solidFill>
            <a:srgbClr val="C3D0E8"/>
          </a:solidFill>
          <a:ln/>
        </p:spPr>
      </p:sp>
      <p:sp>
        <p:nvSpPr>
          <p:cNvPr id="27" name="Shape 22"/>
          <p:cNvSpPr/>
          <p:nvPr/>
        </p:nvSpPr>
        <p:spPr>
          <a:xfrm>
            <a:off x="9436608" y="1645920"/>
            <a:ext cx="2606040" cy="3566160"/>
          </a:xfrm>
          <a:prstGeom prst="roundRect">
            <a:avLst>
              <a:gd name="adj" fmla="val 4211"/>
            </a:avLst>
          </a:prstGeom>
          <a:solidFill>
            <a:srgbClr val="F3F6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10328148" y="1965960"/>
            <a:ext cx="822960" cy="822960"/>
          </a:xfrm>
          <a:prstGeom prst="ellipse">
            <a:avLst/>
          </a:prstGeom>
          <a:solidFill>
            <a:srgbClr val="3D5A99"/>
          </a:solidFill>
          <a:ln/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42118" y="2179930"/>
            <a:ext cx="395021" cy="395021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9573768" y="29718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&amp; unlocked</a:t>
            </a:r>
            <a:endParaRPr lang="en-US" sz="1550" dirty="0"/>
          </a:p>
        </p:txBody>
      </p:sp>
      <p:sp>
        <p:nvSpPr>
          <p:cNvPr id="31" name="Text 25"/>
          <p:cNvSpPr/>
          <p:nvPr/>
        </p:nvSpPr>
        <p:spPr>
          <a:xfrm>
            <a:off x="9637776" y="3383280"/>
            <a:ext cx="220370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Shipment details unlock instantly — you are cleared to ship.</a:t>
            </a:r>
            <a:endParaRPr lang="en-US" sz="1150" dirty="0"/>
          </a:p>
        </p:txBody>
      </p:sp>
      <p:sp>
        <p:nvSpPr>
          <p:cNvPr id="32" name="Shape 26"/>
          <p:cNvSpPr/>
          <p:nvPr/>
        </p:nvSpPr>
        <p:spPr>
          <a:xfrm>
            <a:off x="10053828" y="4526280"/>
            <a:ext cx="1371600" cy="384048"/>
          </a:xfrm>
          <a:prstGeom prst="roundRect">
            <a:avLst>
              <a:gd name="adj" fmla="val 50000"/>
            </a:avLst>
          </a:prstGeom>
          <a:solidFill>
            <a:srgbClr val="D1FAE5"/>
          </a:solidFill>
          <a:ln/>
        </p:spPr>
      </p:sp>
      <p:sp>
        <p:nvSpPr>
          <p:cNvPr id="33" name="Text 27"/>
          <p:cNvSpPr/>
          <p:nvPr/>
        </p:nvSpPr>
        <p:spPr>
          <a:xfrm>
            <a:off x="10053828" y="452628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</a:t>
            </a:r>
            <a:endParaRPr lang="en-US" sz="1050" dirty="0"/>
          </a:p>
        </p:txBody>
      </p:sp>
      <p:sp>
        <p:nvSpPr>
          <p:cNvPr id="34" name="Text 28"/>
          <p:cNvSpPr/>
          <p:nvPr/>
        </p:nvSpPr>
        <p:spPr>
          <a:xfrm>
            <a:off x="548640" y="56235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3D5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invoice has an owner and a status — nothing ships on a guess, and nothing waits on a mystery.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3D5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our dock to Amazon</a:t>
            </a:r>
            <a:endParaRPr lang="en-US" sz="3300" dirty="0"/>
          </a:p>
        </p:txBody>
      </p:sp>
      <p:sp>
        <p:nvSpPr>
          <p:cNvPr id="3" name="Shape 1"/>
          <p:cNvSpPr/>
          <p:nvPr/>
        </p:nvSpPr>
        <p:spPr>
          <a:xfrm>
            <a:off x="941832" y="1783080"/>
            <a:ext cx="0" cy="3977640"/>
          </a:xfrm>
          <a:prstGeom prst="line">
            <a:avLst/>
          </a:prstGeom>
          <a:noFill/>
          <a:ln w="31750">
            <a:solidFill>
              <a:srgbClr val="C3D0E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" y="1463040"/>
            <a:ext cx="658368" cy="658368"/>
          </a:xfrm>
          <a:prstGeom prst="ellipse">
            <a:avLst/>
          </a:prstGeom>
          <a:solidFill>
            <a:srgbClr val="3D5A99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2968" y="1634216"/>
            <a:ext cx="316017" cy="31601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08760" y="146304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Shipped   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add carrier + tracking and upload FNSKU label PDFs for every ASIN.</a:t>
            </a:r>
            <a:endParaRPr lang="en-US" sz="1550" dirty="0"/>
          </a:p>
        </p:txBody>
      </p:sp>
      <p:sp>
        <p:nvSpPr>
          <p:cNvPr id="7" name="Shape 4"/>
          <p:cNvSpPr/>
          <p:nvPr/>
        </p:nvSpPr>
        <p:spPr>
          <a:xfrm>
            <a:off x="10287000" y="1581912"/>
            <a:ext cx="1325880" cy="402336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/>
        </p:spPr>
      </p:sp>
      <p:sp>
        <p:nvSpPr>
          <p:cNvPr id="8" name="Text 5"/>
          <p:cNvSpPr/>
          <p:nvPr/>
        </p:nvSpPr>
        <p:spPr>
          <a:xfrm>
            <a:off x="10287000" y="1581912"/>
            <a:ext cx="1325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SHIPPED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621792" y="2432304"/>
            <a:ext cx="658368" cy="658368"/>
          </a:xfrm>
          <a:prstGeom prst="ellipse">
            <a:avLst/>
          </a:prstGeom>
          <a:solidFill>
            <a:srgbClr val="3D5A99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968" y="2603480"/>
            <a:ext cx="316017" cy="316017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508760" y="2432304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Received   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confirm arrival at the warehouse — your shipment details lock for accuracy.</a:t>
            </a:r>
            <a:endParaRPr lang="en-US" sz="1550" dirty="0"/>
          </a:p>
        </p:txBody>
      </p:sp>
      <p:sp>
        <p:nvSpPr>
          <p:cNvPr id="12" name="Shape 8"/>
          <p:cNvSpPr/>
          <p:nvPr/>
        </p:nvSpPr>
        <p:spPr>
          <a:xfrm>
            <a:off x="10287000" y="2551176"/>
            <a:ext cx="1325880" cy="402336"/>
          </a:xfrm>
          <a:prstGeom prst="roundRect">
            <a:avLst>
              <a:gd name="adj" fmla="val 50000"/>
            </a:avLst>
          </a:prstGeom>
          <a:solidFill>
            <a:srgbClr val="D1FAE5"/>
          </a:solidFill>
          <a:ln/>
        </p:spPr>
      </p:sp>
      <p:sp>
        <p:nvSpPr>
          <p:cNvPr id="13" name="Text 9"/>
          <p:cNvSpPr/>
          <p:nvPr/>
        </p:nvSpPr>
        <p:spPr>
          <a:xfrm>
            <a:off x="10287000" y="2551176"/>
            <a:ext cx="1325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RECEIVED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621792" y="3401568"/>
            <a:ext cx="658368" cy="658368"/>
          </a:xfrm>
          <a:prstGeom prst="ellipse">
            <a:avLst/>
          </a:prstGeom>
          <a:solidFill>
            <a:srgbClr val="3D5A99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2968" y="3572744"/>
            <a:ext cx="316017" cy="316017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508760" y="3401568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 in progress   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Inspection, FNSKU labeling, poly bag / bubble wrap — exactly as ordered.</a:t>
            </a:r>
            <a:endParaRPr lang="en-US" sz="1550" dirty="0"/>
          </a:p>
        </p:txBody>
      </p:sp>
      <p:sp>
        <p:nvSpPr>
          <p:cNvPr id="17" name="Shape 12"/>
          <p:cNvSpPr/>
          <p:nvPr/>
        </p:nvSpPr>
        <p:spPr>
          <a:xfrm>
            <a:off x="10287000" y="3520440"/>
            <a:ext cx="1325880" cy="402336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/>
        </p:spPr>
      </p:sp>
      <p:sp>
        <p:nvSpPr>
          <p:cNvPr id="18" name="Text 13"/>
          <p:cNvSpPr/>
          <p:nvPr/>
        </p:nvSpPr>
        <p:spPr>
          <a:xfrm>
            <a:off x="10287000" y="3520440"/>
            <a:ext cx="1325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</a:t>
            </a:r>
            <a:endParaRPr lang="en-US" sz="950" dirty="0"/>
          </a:p>
        </p:txBody>
      </p:sp>
      <p:sp>
        <p:nvSpPr>
          <p:cNvPr id="19" name="Shape 14"/>
          <p:cNvSpPr/>
          <p:nvPr/>
        </p:nvSpPr>
        <p:spPr>
          <a:xfrm>
            <a:off x="621792" y="4370832"/>
            <a:ext cx="658368" cy="658368"/>
          </a:xfrm>
          <a:prstGeom prst="ellipse">
            <a:avLst/>
          </a:prstGeom>
          <a:solidFill>
            <a:srgbClr val="3D5A99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968" y="4542008"/>
            <a:ext cx="316017" cy="316017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508760" y="4370832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 done   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publish shipment info for each ASIN straight to your portal.</a:t>
            </a:r>
            <a:endParaRPr lang="en-US" sz="1550" dirty="0"/>
          </a:p>
        </p:txBody>
      </p:sp>
      <p:sp>
        <p:nvSpPr>
          <p:cNvPr id="22" name="Shape 16"/>
          <p:cNvSpPr/>
          <p:nvPr/>
        </p:nvSpPr>
        <p:spPr>
          <a:xfrm>
            <a:off x="10287000" y="4489704"/>
            <a:ext cx="1325880" cy="402336"/>
          </a:xfrm>
          <a:prstGeom prst="roundRect">
            <a:avLst>
              <a:gd name="adj" fmla="val 50000"/>
            </a:avLst>
          </a:prstGeom>
          <a:solidFill>
            <a:srgbClr val="CFFAFE"/>
          </a:solidFill>
          <a:ln/>
        </p:spPr>
      </p:sp>
      <p:sp>
        <p:nvSpPr>
          <p:cNvPr id="23" name="Text 17"/>
          <p:cNvSpPr/>
          <p:nvPr/>
        </p:nvSpPr>
        <p:spPr>
          <a:xfrm>
            <a:off x="10287000" y="4489704"/>
            <a:ext cx="1325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55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 DONE</a:t>
            </a:r>
            <a:endParaRPr lang="en-US" sz="950" dirty="0"/>
          </a:p>
        </p:txBody>
      </p:sp>
      <p:sp>
        <p:nvSpPr>
          <p:cNvPr id="24" name="Shape 18"/>
          <p:cNvSpPr/>
          <p:nvPr/>
        </p:nvSpPr>
        <p:spPr>
          <a:xfrm>
            <a:off x="621792" y="5340096"/>
            <a:ext cx="658368" cy="658368"/>
          </a:xfrm>
          <a:prstGeom prst="ellipse">
            <a:avLst/>
          </a:prstGeom>
          <a:solidFill>
            <a:srgbClr val="E8862D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2968" y="5511272"/>
            <a:ext cx="316017" cy="316017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508760" y="5340096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 to Amazon   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upload shipping labels — as many as needed per ASIN — and we ship.</a:t>
            </a:r>
            <a:endParaRPr lang="en-US" sz="1550" dirty="0"/>
          </a:p>
        </p:txBody>
      </p:sp>
      <p:sp>
        <p:nvSpPr>
          <p:cNvPr id="27" name="Shape 20"/>
          <p:cNvSpPr/>
          <p:nvPr/>
        </p:nvSpPr>
        <p:spPr>
          <a:xfrm>
            <a:off x="10287000" y="5458968"/>
            <a:ext cx="1325880" cy="402336"/>
          </a:xfrm>
          <a:prstGeom prst="roundRect">
            <a:avLst>
              <a:gd name="adj" fmla="val 50000"/>
            </a:avLst>
          </a:prstGeom>
          <a:solidFill>
            <a:srgbClr val="FCE7F3"/>
          </a:solidFill>
          <a:ln/>
        </p:spPr>
      </p:sp>
      <p:sp>
        <p:nvSpPr>
          <p:cNvPr id="28" name="Text 21"/>
          <p:cNvSpPr/>
          <p:nvPr/>
        </p:nvSpPr>
        <p:spPr>
          <a:xfrm>
            <a:off x="10287000" y="5458968"/>
            <a:ext cx="1325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</a:t>
            </a:r>
            <a:endParaRPr lang="en-US" sz="950" dirty="0"/>
          </a:p>
        </p:txBody>
      </p:sp>
      <p:sp>
        <p:nvSpPr>
          <p:cNvPr id="29" name="Text 22"/>
          <p:cNvSpPr/>
          <p:nvPr/>
        </p:nvSpPr>
        <p:spPr>
          <a:xfrm>
            <a:off x="621792" y="62636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stage updates your portal the moment it happens — the same statuses our warehouse works from.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3D5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Everyone sees exactly what they need</a:t>
            </a:r>
            <a:endParaRPr lang="en-US" sz="33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2697480" cy="3200400"/>
          </a:xfrm>
          <a:prstGeom prst="roundRect">
            <a:avLst>
              <a:gd name="adj" fmla="val 4068"/>
            </a:avLst>
          </a:prstGeom>
          <a:solidFill>
            <a:srgbClr val="3D5A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672" y="1737360"/>
            <a:ext cx="658368" cy="658368"/>
          </a:xfrm>
          <a:prstGeom prst="ellipse">
            <a:avLst/>
          </a:prstGeom>
          <a:solidFill>
            <a:srgbClr val="E8862D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5848" y="1908536"/>
            <a:ext cx="316017" cy="31601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04672" y="25603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portal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804672" y="2971800"/>
            <a:ext cx="218541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CE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 orders, download invoices, track statuses, exchange labels — your whole account in one login.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3511296" y="1463040"/>
            <a:ext cx="2697480" cy="3200400"/>
          </a:xfrm>
          <a:prstGeom prst="roundRect">
            <a:avLst>
              <a:gd name="adj" fmla="val 4068"/>
            </a:avLst>
          </a:prstGeom>
          <a:solidFill>
            <a:srgbClr val="F3F6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767328" y="1737360"/>
            <a:ext cx="658368" cy="658368"/>
          </a:xfrm>
          <a:prstGeom prst="ellipse">
            <a:avLst/>
          </a:prstGeom>
          <a:solidFill>
            <a:srgbClr val="3D5A99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8504" y="1908536"/>
            <a:ext cx="316017" cy="316017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767328" y="25603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Accounts team</a:t>
            </a:r>
            <a:endParaRPr lang="en-US" sz="1550" dirty="0"/>
          </a:p>
        </p:txBody>
      </p:sp>
      <p:sp>
        <p:nvSpPr>
          <p:cNvPr id="12" name="Text 8"/>
          <p:cNvSpPr/>
          <p:nvPr/>
        </p:nvSpPr>
        <p:spPr>
          <a:xfrm>
            <a:off x="3767328" y="2971800"/>
            <a:ext cx="218541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dedicated verification queue so payments are confirmed quickly and accurately.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6473952" y="1463040"/>
            <a:ext cx="2697480" cy="3200400"/>
          </a:xfrm>
          <a:prstGeom prst="roundRect">
            <a:avLst>
              <a:gd name="adj" fmla="val 4068"/>
            </a:avLst>
          </a:prstGeom>
          <a:solidFill>
            <a:srgbClr val="F3F6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729984" y="1737360"/>
            <a:ext cx="658368" cy="658368"/>
          </a:xfrm>
          <a:prstGeom prst="ellipse">
            <a:avLst/>
          </a:prstGeom>
          <a:solidFill>
            <a:srgbClr val="3D5A99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1160" y="1908536"/>
            <a:ext cx="316017" cy="316017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729984" y="25603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 crew</a:t>
            </a:r>
            <a:endParaRPr lang="en-US" sz="1550" dirty="0"/>
          </a:p>
        </p:txBody>
      </p:sp>
      <p:sp>
        <p:nvSpPr>
          <p:cNvPr id="17" name="Text 12"/>
          <p:cNvSpPr/>
          <p:nvPr/>
        </p:nvSpPr>
        <p:spPr>
          <a:xfrm>
            <a:off x="6729984" y="2971800"/>
            <a:ext cx="218541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Receiving, prep pipeline and label downloads — worked from the same live statuses you see.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9436608" y="1463040"/>
            <a:ext cx="2697480" cy="3200400"/>
          </a:xfrm>
          <a:prstGeom prst="roundRect">
            <a:avLst>
              <a:gd name="adj" fmla="val 4068"/>
            </a:avLst>
          </a:prstGeom>
          <a:solidFill>
            <a:srgbClr val="F3F6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9692640" y="1737360"/>
            <a:ext cx="658368" cy="658368"/>
          </a:xfrm>
          <a:prstGeom prst="ellipse">
            <a:avLst/>
          </a:prstGeom>
          <a:solidFill>
            <a:srgbClr val="3D5A99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63816" y="1908536"/>
            <a:ext cx="316017" cy="316017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9692640" y="25603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oversight</a:t>
            </a:r>
            <a:endParaRPr lang="en-US" sz="1550" dirty="0"/>
          </a:p>
        </p:txBody>
      </p:sp>
      <p:sp>
        <p:nvSpPr>
          <p:cNvPr id="22" name="Text 16"/>
          <p:cNvSpPr/>
          <p:nvPr/>
        </p:nvSpPr>
        <p:spPr>
          <a:xfrm>
            <a:off x="9692640" y="2971800"/>
            <a:ext cx="218541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cards, client accounts and a complete view of every order in flight.</a:t>
            </a:r>
            <a:endParaRPr lang="en-US" sz="1150" dirty="0"/>
          </a:p>
        </p:txBody>
      </p:sp>
      <p:sp>
        <p:nvSpPr>
          <p:cNvPr id="23" name="Shape 17"/>
          <p:cNvSpPr/>
          <p:nvPr/>
        </p:nvSpPr>
        <p:spPr>
          <a:xfrm>
            <a:off x="548640" y="5029200"/>
            <a:ext cx="11091672" cy="1143000"/>
          </a:xfrm>
          <a:prstGeom prst="roundRect">
            <a:avLst>
              <a:gd name="adj" fmla="val 9600"/>
            </a:avLst>
          </a:prstGeom>
          <a:solidFill>
            <a:srgbClr val="DCE6F1"/>
          </a:solidFill>
          <a:ln/>
        </p:spPr>
      </p:sp>
      <p:sp>
        <p:nvSpPr>
          <p:cNvPr id="24" name="Shape 18"/>
          <p:cNvSpPr/>
          <p:nvPr/>
        </p:nvSpPr>
        <p:spPr>
          <a:xfrm>
            <a:off x="868680" y="5276088"/>
            <a:ext cx="658368" cy="658368"/>
          </a:xfrm>
          <a:prstGeom prst="ellipse">
            <a:avLst/>
          </a:prstGeom>
          <a:solidFill>
            <a:srgbClr val="3D5A99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9856" y="5447264"/>
            <a:ext cx="316017" cy="316017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737360" y="5166360"/>
            <a:ext cx="9692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Nobody has to ask "any update?"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3B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notification bell in every portal announces each change — new invoices, verified payments, prep milestones — the moment it happens.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235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858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started is simple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783080"/>
            <a:ext cx="3566160" cy="2560320"/>
          </a:xfrm>
          <a:prstGeom prst="roundRect">
            <a:avLst>
              <a:gd name="adj" fmla="val 4286"/>
            </a:avLst>
          </a:prstGeom>
          <a:solidFill>
            <a:srgbClr val="31497D"/>
          </a:solidFill>
          <a:ln/>
        </p:spPr>
      </p:sp>
      <p:sp>
        <p:nvSpPr>
          <p:cNvPr id="4" name="Text 2"/>
          <p:cNvSpPr/>
          <p:nvPr/>
        </p:nvSpPr>
        <p:spPr>
          <a:xfrm>
            <a:off x="3337560" y="1965960"/>
            <a:ext cx="594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8CA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22960" y="2057400"/>
            <a:ext cx="713232" cy="713232"/>
          </a:xfrm>
          <a:prstGeom prst="ellipse">
            <a:avLst/>
          </a:prstGeom>
          <a:solidFill>
            <a:srgbClr val="E8862D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8400" y="2242840"/>
            <a:ext cx="342351" cy="34235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30175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set up your login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342900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CE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signup forms — we create your account and rate card, you log in.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370832" y="1783080"/>
            <a:ext cx="3566160" cy="2560320"/>
          </a:xfrm>
          <a:prstGeom prst="roundRect">
            <a:avLst>
              <a:gd name="adj" fmla="val 4286"/>
            </a:avLst>
          </a:prstGeom>
          <a:solidFill>
            <a:srgbClr val="31497D"/>
          </a:solidFill>
          <a:ln/>
        </p:spPr>
      </p:sp>
      <p:sp>
        <p:nvSpPr>
          <p:cNvPr id="10" name="Text 7"/>
          <p:cNvSpPr/>
          <p:nvPr/>
        </p:nvSpPr>
        <p:spPr>
          <a:xfrm>
            <a:off x="7159752" y="1965960"/>
            <a:ext cx="594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8CA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000" dirty="0"/>
          </a:p>
        </p:txBody>
      </p:sp>
      <p:sp>
        <p:nvSpPr>
          <p:cNvPr id="11" name="Shape 8"/>
          <p:cNvSpPr/>
          <p:nvPr/>
        </p:nvSpPr>
        <p:spPr>
          <a:xfrm>
            <a:off x="4645152" y="2057400"/>
            <a:ext cx="713232" cy="713232"/>
          </a:xfrm>
          <a:prstGeom prst="ellipse">
            <a:avLst/>
          </a:prstGeom>
          <a:solidFill>
            <a:srgbClr val="E8862D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0592" y="2242840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645152" y="30175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 your first order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4645152" y="342900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CE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Products, quantities and prep options; the invoice is in your inbox in seconds.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8193024" y="1783080"/>
            <a:ext cx="3566160" cy="2560320"/>
          </a:xfrm>
          <a:prstGeom prst="roundRect">
            <a:avLst>
              <a:gd name="adj" fmla="val 4286"/>
            </a:avLst>
          </a:prstGeom>
          <a:solidFill>
            <a:srgbClr val="31497D"/>
          </a:solidFill>
          <a:ln/>
        </p:spPr>
      </p:sp>
      <p:sp>
        <p:nvSpPr>
          <p:cNvPr id="16" name="Text 12"/>
          <p:cNvSpPr/>
          <p:nvPr/>
        </p:nvSpPr>
        <p:spPr>
          <a:xfrm>
            <a:off x="10981944" y="1965960"/>
            <a:ext cx="594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8CA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000" dirty="0"/>
          </a:p>
        </p:txBody>
      </p:sp>
      <p:sp>
        <p:nvSpPr>
          <p:cNvPr id="17" name="Shape 13"/>
          <p:cNvSpPr/>
          <p:nvPr/>
        </p:nvSpPr>
        <p:spPr>
          <a:xfrm>
            <a:off x="8467344" y="2057400"/>
            <a:ext cx="713232" cy="713232"/>
          </a:xfrm>
          <a:prstGeom prst="ellipse">
            <a:avLst/>
          </a:prstGeom>
          <a:solidFill>
            <a:srgbClr val="E8862D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52784" y="2242840"/>
            <a:ext cx="342351" cy="342351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467344" y="30175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take it to Amazon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8467344" y="342900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CE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to our dock and watch every stage until it lands at FBA.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548640" y="51663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886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prep your next shipment.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3PL Prep Portal</dc:title>
  <dc:subject>PptxGenJS Presentation</dc:subject>
  <dc:creator>Viral Distributors</dc:creator>
  <cp:lastModifiedBy>Viral Distributors</cp:lastModifiedBy>
  <cp:revision>1</cp:revision>
  <dcterms:created xsi:type="dcterms:W3CDTF">2026-07-15T12:49:45Z</dcterms:created>
  <dcterms:modified xsi:type="dcterms:W3CDTF">2026-07-15T12:49:45Z</dcterms:modified>
</cp:coreProperties>
</file>